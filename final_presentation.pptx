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9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9"/>
  </p:normalViewPr>
  <p:slideViewPr>
    <p:cSldViewPr snapToGrid="0">
      <p:cViewPr>
        <p:scale>
          <a:sx n="79" d="100"/>
          <a:sy n="79" d="100"/>
        </p:scale>
        <p:origin x="176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41F2E9-C847-4A4F-AC6E-7304C212140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2F7F82-EB81-45C4-9FF2-55AA2B8C6B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Forests first described in 1995, after the paper was published</a:t>
          </a:r>
        </a:p>
      </dgm:t>
    </dgm:pt>
    <dgm:pt modelId="{D1C99BD1-2E64-4946-8B01-3DE5D3F9F4BD}" type="parTrans" cxnId="{6C912A11-C2BA-4E01-BC5E-02F1F4A9DD89}">
      <dgm:prSet/>
      <dgm:spPr/>
      <dgm:t>
        <a:bodyPr/>
        <a:lstStyle/>
        <a:p>
          <a:endParaRPr lang="en-US"/>
        </a:p>
      </dgm:t>
    </dgm:pt>
    <dgm:pt modelId="{98D13527-B15F-4103-9C33-7E93CEC4DE90}" type="sibTrans" cxnId="{6C912A11-C2BA-4E01-BC5E-02F1F4A9DD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705339-C1BD-4141-A735-14980E0EB8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Potential to increase sensitivity &amp; specificity for diagnosis of a life-threatening disease </a:t>
          </a:r>
        </a:p>
      </dgm:t>
    </dgm:pt>
    <dgm:pt modelId="{1575BE04-18B8-415E-A91D-97CED3B7EEDE}" type="parTrans" cxnId="{8A941B3B-7333-4841-963B-4067CBB7B686}">
      <dgm:prSet/>
      <dgm:spPr/>
      <dgm:t>
        <a:bodyPr/>
        <a:lstStyle/>
        <a:p>
          <a:endParaRPr lang="en-US"/>
        </a:p>
      </dgm:t>
    </dgm:pt>
    <dgm:pt modelId="{E1AB2973-977B-4086-97D9-3B3754D2BCC3}" type="sibTrans" cxnId="{8A941B3B-7333-4841-963B-4067CBB7B686}">
      <dgm:prSet/>
      <dgm:spPr/>
      <dgm:t>
        <a:bodyPr/>
        <a:lstStyle/>
        <a:p>
          <a:endParaRPr lang="en-US"/>
        </a:p>
      </dgm:t>
    </dgm:pt>
    <dgm:pt modelId="{08ED8442-50FA-4B3D-A1D5-A9C460E66F61}" type="pres">
      <dgm:prSet presAssocID="{F841F2E9-C847-4A4F-AC6E-7304C2121402}" presName="root" presStyleCnt="0">
        <dgm:presLayoutVars>
          <dgm:dir/>
          <dgm:resizeHandles val="exact"/>
        </dgm:presLayoutVars>
      </dgm:prSet>
      <dgm:spPr/>
    </dgm:pt>
    <dgm:pt modelId="{CD9B6897-9C00-4684-917B-9730DCFE5F55}" type="pres">
      <dgm:prSet presAssocID="{F841F2E9-C847-4A4F-AC6E-7304C2121402}" presName="container" presStyleCnt="0">
        <dgm:presLayoutVars>
          <dgm:dir/>
          <dgm:resizeHandles val="exact"/>
        </dgm:presLayoutVars>
      </dgm:prSet>
      <dgm:spPr/>
    </dgm:pt>
    <dgm:pt modelId="{44B2456B-DAA4-45C1-AD92-94D42896ECF2}" type="pres">
      <dgm:prSet presAssocID="{532F7F82-EB81-45C4-9FF2-55AA2B8C6B95}" presName="compNode" presStyleCnt="0"/>
      <dgm:spPr/>
    </dgm:pt>
    <dgm:pt modelId="{764CC20C-AB09-4D53-9B4C-36D98ED62E6D}" type="pres">
      <dgm:prSet presAssocID="{532F7F82-EB81-45C4-9FF2-55AA2B8C6B95}" presName="iconBgRect" presStyleLbl="bgShp" presStyleIdx="0" presStyleCnt="2"/>
      <dgm:spPr/>
    </dgm:pt>
    <dgm:pt modelId="{335C2199-A3DE-48D6-813D-340D5EB9DA81}" type="pres">
      <dgm:prSet presAssocID="{532F7F82-EB81-45C4-9FF2-55AA2B8C6B9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6423505D-99A1-46A6-A0F3-98989C5471D9}" type="pres">
      <dgm:prSet presAssocID="{532F7F82-EB81-45C4-9FF2-55AA2B8C6B95}" presName="spaceRect" presStyleCnt="0"/>
      <dgm:spPr/>
    </dgm:pt>
    <dgm:pt modelId="{1D729D97-59AF-4D21-BDD6-B334E1F7918E}" type="pres">
      <dgm:prSet presAssocID="{532F7F82-EB81-45C4-9FF2-55AA2B8C6B95}" presName="textRect" presStyleLbl="revTx" presStyleIdx="0" presStyleCnt="2">
        <dgm:presLayoutVars>
          <dgm:chMax val="1"/>
          <dgm:chPref val="1"/>
        </dgm:presLayoutVars>
      </dgm:prSet>
      <dgm:spPr/>
    </dgm:pt>
    <dgm:pt modelId="{F824C0D1-9E75-4852-9740-54B1A7F98BF3}" type="pres">
      <dgm:prSet presAssocID="{98D13527-B15F-4103-9C33-7E93CEC4DE90}" presName="sibTrans" presStyleLbl="sibTrans2D1" presStyleIdx="0" presStyleCnt="0"/>
      <dgm:spPr/>
    </dgm:pt>
    <dgm:pt modelId="{9994FAC3-DF97-42F2-8977-D5929FC15536}" type="pres">
      <dgm:prSet presAssocID="{47705339-C1BD-4141-A735-14980E0EB87E}" presName="compNode" presStyleCnt="0"/>
      <dgm:spPr/>
    </dgm:pt>
    <dgm:pt modelId="{936C11EF-65E2-4B48-AA22-27CAC3DD3803}" type="pres">
      <dgm:prSet presAssocID="{47705339-C1BD-4141-A735-14980E0EB87E}" presName="iconBgRect" presStyleLbl="bgShp" presStyleIdx="1" presStyleCnt="2"/>
      <dgm:spPr/>
    </dgm:pt>
    <dgm:pt modelId="{F8C3667F-BCB1-4BF8-B1B9-F8854B30A09E}" type="pres">
      <dgm:prSet presAssocID="{47705339-C1BD-4141-A735-14980E0EB87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566FE3E3-3C03-4020-8446-8AEAEB3B9DBF}" type="pres">
      <dgm:prSet presAssocID="{47705339-C1BD-4141-A735-14980E0EB87E}" presName="spaceRect" presStyleCnt="0"/>
      <dgm:spPr/>
    </dgm:pt>
    <dgm:pt modelId="{E2537D81-1A0D-4118-A533-6E4190A5770A}" type="pres">
      <dgm:prSet presAssocID="{47705339-C1BD-4141-A735-14980E0EB87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C912A11-C2BA-4E01-BC5E-02F1F4A9DD89}" srcId="{F841F2E9-C847-4A4F-AC6E-7304C2121402}" destId="{532F7F82-EB81-45C4-9FF2-55AA2B8C6B95}" srcOrd="0" destOrd="0" parTransId="{D1C99BD1-2E64-4946-8B01-3DE5D3F9F4BD}" sibTransId="{98D13527-B15F-4103-9C33-7E93CEC4DE90}"/>
    <dgm:cxn modelId="{61D0AE25-3130-4A1E-AC43-47F88D852537}" type="presOf" srcId="{47705339-C1BD-4141-A735-14980E0EB87E}" destId="{E2537D81-1A0D-4118-A533-6E4190A5770A}" srcOrd="0" destOrd="0" presId="urn:microsoft.com/office/officeart/2018/2/layout/IconCircleList"/>
    <dgm:cxn modelId="{8A941B3B-7333-4841-963B-4067CBB7B686}" srcId="{F841F2E9-C847-4A4F-AC6E-7304C2121402}" destId="{47705339-C1BD-4141-A735-14980E0EB87E}" srcOrd="1" destOrd="0" parTransId="{1575BE04-18B8-415E-A91D-97CED3B7EEDE}" sibTransId="{E1AB2973-977B-4086-97D9-3B3754D2BCC3}"/>
    <dgm:cxn modelId="{818D6F5D-AD3B-4501-9C05-E57E55515DD8}" type="presOf" srcId="{532F7F82-EB81-45C4-9FF2-55AA2B8C6B95}" destId="{1D729D97-59AF-4D21-BDD6-B334E1F7918E}" srcOrd="0" destOrd="0" presId="urn:microsoft.com/office/officeart/2018/2/layout/IconCircleList"/>
    <dgm:cxn modelId="{BEF5FAD5-5C7E-4D69-8A37-51015FBF86E6}" type="presOf" srcId="{98D13527-B15F-4103-9C33-7E93CEC4DE90}" destId="{F824C0D1-9E75-4852-9740-54B1A7F98BF3}" srcOrd="0" destOrd="0" presId="urn:microsoft.com/office/officeart/2018/2/layout/IconCircleList"/>
    <dgm:cxn modelId="{065E62E9-ED11-4EBF-B834-732F927B94A0}" type="presOf" srcId="{F841F2E9-C847-4A4F-AC6E-7304C2121402}" destId="{08ED8442-50FA-4B3D-A1D5-A9C460E66F61}" srcOrd="0" destOrd="0" presId="urn:microsoft.com/office/officeart/2018/2/layout/IconCircleList"/>
    <dgm:cxn modelId="{53C16945-7A47-4A08-AE7A-FBC7F13A1686}" type="presParOf" srcId="{08ED8442-50FA-4B3D-A1D5-A9C460E66F61}" destId="{CD9B6897-9C00-4684-917B-9730DCFE5F55}" srcOrd="0" destOrd="0" presId="urn:microsoft.com/office/officeart/2018/2/layout/IconCircleList"/>
    <dgm:cxn modelId="{08BA88FE-95D5-45B8-8F1A-35107E965943}" type="presParOf" srcId="{CD9B6897-9C00-4684-917B-9730DCFE5F55}" destId="{44B2456B-DAA4-45C1-AD92-94D42896ECF2}" srcOrd="0" destOrd="0" presId="urn:microsoft.com/office/officeart/2018/2/layout/IconCircleList"/>
    <dgm:cxn modelId="{0645F9CD-6D1C-4552-942F-B6417A3F0811}" type="presParOf" srcId="{44B2456B-DAA4-45C1-AD92-94D42896ECF2}" destId="{764CC20C-AB09-4D53-9B4C-36D98ED62E6D}" srcOrd="0" destOrd="0" presId="urn:microsoft.com/office/officeart/2018/2/layout/IconCircleList"/>
    <dgm:cxn modelId="{A78538B6-3BB3-4641-ABBA-4DFA95A5707B}" type="presParOf" srcId="{44B2456B-DAA4-45C1-AD92-94D42896ECF2}" destId="{335C2199-A3DE-48D6-813D-340D5EB9DA81}" srcOrd="1" destOrd="0" presId="urn:microsoft.com/office/officeart/2018/2/layout/IconCircleList"/>
    <dgm:cxn modelId="{E26CFF45-A6F8-4625-9A59-68CD59D5810B}" type="presParOf" srcId="{44B2456B-DAA4-45C1-AD92-94D42896ECF2}" destId="{6423505D-99A1-46A6-A0F3-98989C5471D9}" srcOrd="2" destOrd="0" presId="urn:microsoft.com/office/officeart/2018/2/layout/IconCircleList"/>
    <dgm:cxn modelId="{8DB84936-2E3D-4C45-80BB-C00EF32ACDEF}" type="presParOf" srcId="{44B2456B-DAA4-45C1-AD92-94D42896ECF2}" destId="{1D729D97-59AF-4D21-BDD6-B334E1F7918E}" srcOrd="3" destOrd="0" presId="urn:microsoft.com/office/officeart/2018/2/layout/IconCircleList"/>
    <dgm:cxn modelId="{B5F752CA-C69F-4C2D-8F47-52E3667C33B7}" type="presParOf" srcId="{CD9B6897-9C00-4684-917B-9730DCFE5F55}" destId="{F824C0D1-9E75-4852-9740-54B1A7F98BF3}" srcOrd="1" destOrd="0" presId="urn:microsoft.com/office/officeart/2018/2/layout/IconCircleList"/>
    <dgm:cxn modelId="{E85742B9-E07F-40DB-BCFF-CED2AD87D227}" type="presParOf" srcId="{CD9B6897-9C00-4684-917B-9730DCFE5F55}" destId="{9994FAC3-DF97-42F2-8977-D5929FC15536}" srcOrd="2" destOrd="0" presId="urn:microsoft.com/office/officeart/2018/2/layout/IconCircleList"/>
    <dgm:cxn modelId="{F4719E2F-5E3D-481F-8F0A-857F90480E2A}" type="presParOf" srcId="{9994FAC3-DF97-42F2-8977-D5929FC15536}" destId="{936C11EF-65E2-4B48-AA22-27CAC3DD3803}" srcOrd="0" destOrd="0" presId="urn:microsoft.com/office/officeart/2018/2/layout/IconCircleList"/>
    <dgm:cxn modelId="{B32E96C6-D7D2-4DB4-8F66-F1E2B4C7F3D8}" type="presParOf" srcId="{9994FAC3-DF97-42F2-8977-D5929FC15536}" destId="{F8C3667F-BCB1-4BF8-B1B9-F8854B30A09E}" srcOrd="1" destOrd="0" presId="urn:microsoft.com/office/officeart/2018/2/layout/IconCircleList"/>
    <dgm:cxn modelId="{DA24142D-65CA-4418-8066-A7D1444C43F3}" type="presParOf" srcId="{9994FAC3-DF97-42F2-8977-D5929FC15536}" destId="{566FE3E3-3C03-4020-8446-8AEAEB3B9DBF}" srcOrd="2" destOrd="0" presId="urn:microsoft.com/office/officeart/2018/2/layout/IconCircleList"/>
    <dgm:cxn modelId="{97AAAD79-8FEC-4AA8-8397-F00D14A06E24}" type="presParOf" srcId="{9994FAC3-DF97-42F2-8977-D5929FC15536}" destId="{E2537D81-1A0D-4118-A533-6E4190A5770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CC20C-AB09-4D53-9B4C-36D98ED62E6D}">
      <dsp:nvSpPr>
        <dsp:cNvPr id="0" name=""/>
        <dsp:cNvSpPr/>
      </dsp:nvSpPr>
      <dsp:spPr>
        <a:xfrm>
          <a:off x="4985" y="1319491"/>
          <a:ext cx="1457528" cy="145752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5C2199-A3DE-48D6-813D-340D5EB9DA81}">
      <dsp:nvSpPr>
        <dsp:cNvPr id="0" name=""/>
        <dsp:cNvSpPr/>
      </dsp:nvSpPr>
      <dsp:spPr>
        <a:xfrm>
          <a:off x="311066" y="1625572"/>
          <a:ext cx="845366" cy="845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29D97-59AF-4D21-BDD6-B334E1F7918E}">
      <dsp:nvSpPr>
        <dsp:cNvPr id="0" name=""/>
        <dsp:cNvSpPr/>
      </dsp:nvSpPr>
      <dsp:spPr>
        <a:xfrm>
          <a:off x="1774840" y="1319491"/>
          <a:ext cx="3435602" cy="1457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Random Forests first described in 1995, after the paper was published</a:t>
          </a:r>
        </a:p>
      </dsp:txBody>
      <dsp:txXfrm>
        <a:off x="1774840" y="1319491"/>
        <a:ext cx="3435602" cy="1457528"/>
      </dsp:txXfrm>
    </dsp:sp>
    <dsp:sp modelId="{936C11EF-65E2-4B48-AA22-27CAC3DD3803}">
      <dsp:nvSpPr>
        <dsp:cNvPr id="0" name=""/>
        <dsp:cNvSpPr/>
      </dsp:nvSpPr>
      <dsp:spPr>
        <a:xfrm>
          <a:off x="5809070" y="1319491"/>
          <a:ext cx="1457528" cy="145752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3667F-BCB1-4BF8-B1B9-F8854B30A09E}">
      <dsp:nvSpPr>
        <dsp:cNvPr id="0" name=""/>
        <dsp:cNvSpPr/>
      </dsp:nvSpPr>
      <dsp:spPr>
        <a:xfrm>
          <a:off x="6115151" y="1625572"/>
          <a:ext cx="845366" cy="845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37D81-1A0D-4118-A533-6E4190A5770A}">
      <dsp:nvSpPr>
        <dsp:cNvPr id="0" name=""/>
        <dsp:cNvSpPr/>
      </dsp:nvSpPr>
      <dsp:spPr>
        <a:xfrm>
          <a:off x="7578926" y="1319491"/>
          <a:ext cx="3435602" cy="1457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Potential to increase sensitivity &amp; specificity for diagnosis of a life-threatening disease </a:t>
          </a:r>
        </a:p>
      </dsp:txBody>
      <dsp:txXfrm>
        <a:off x="7578926" y="1319491"/>
        <a:ext cx="3435602" cy="1457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78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32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27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13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9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5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0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1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3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4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9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dataset/17/breast+cancer+wisconsin+diagnostic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24432/C5DW2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9F2CF9-4244-431F-36F4-49F4D6D7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22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75031-B757-4374-F613-11ABAADBD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95685"/>
            <a:ext cx="8072706" cy="960120"/>
          </a:xfrm>
        </p:spPr>
        <p:txBody>
          <a:bodyPr anchor="ctr">
            <a:normAutofit/>
          </a:bodyPr>
          <a:lstStyle/>
          <a:p>
            <a:pPr algn="l"/>
            <a:r>
              <a:rPr lang="en-US" sz="3100" dirty="0"/>
              <a:t>Updated Random Forest Model for Breast Cancer Diagnosis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A89CD-11E9-DD6B-D496-53FF287E3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7818" y="5795685"/>
            <a:ext cx="3409109" cy="960120"/>
          </a:xfrm>
        </p:spPr>
        <p:txBody>
          <a:bodyPr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700" dirty="0"/>
              <a:t>Georgia Jenkins, MPH</a:t>
            </a:r>
          </a:p>
          <a:p>
            <a:pPr algn="r">
              <a:lnSpc>
                <a:spcPct val="110000"/>
              </a:lnSpc>
            </a:pPr>
            <a:r>
              <a:rPr lang="en-US" sz="1700" dirty="0"/>
              <a:t>Springboard Capstone Project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063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EF3F49-C3EF-64DE-67E1-A386D195D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58A7-AFDD-A464-2054-67A532D14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 dirty="0"/>
              <a:t>Fine Needle Aspiration (FNA) is a minimally invasive way to sample breast mass tissue</a:t>
            </a:r>
          </a:p>
          <a:p>
            <a:r>
              <a:rPr lang="en-US" sz="1800" dirty="0"/>
              <a:t>FNA yields many (10) nuclear features, making diagnosis difficult </a:t>
            </a:r>
          </a:p>
          <a:p>
            <a:r>
              <a:rPr lang="en-US" sz="1800" dirty="0"/>
              <a:t>In 1992, Street et. Al built a multi-surface method tree (MSM-Tree) to predict diagnosis</a:t>
            </a:r>
          </a:p>
          <a:p>
            <a:pPr lvl="1"/>
            <a:r>
              <a:rPr lang="en-US" dirty="0"/>
              <a:t>97.3% accuracy, 90% sensitivity, 86% specificity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67BB2-F7E5-E2E3-5E73-4C26AE67B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657" y="2549249"/>
            <a:ext cx="5009244" cy="1678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5FF1DE-0A64-D86B-1F4A-0B1F94283FEB}"/>
              </a:ext>
            </a:extLst>
          </p:cNvPr>
          <p:cNvSpPr txBox="1"/>
          <p:nvPr/>
        </p:nvSpPr>
        <p:spPr>
          <a:xfrm>
            <a:off x="4620986" y="6391656"/>
            <a:ext cx="7571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000000"/>
                </a:solidFill>
                <a:effectLst/>
              </a:rPr>
              <a:t>Street, Nick &amp; Wolberg, William &amp; Mangasarian, O. (1999). Nuclear Feature Extraction For Breast Tumor Diagnosis. Proc. Soc. Photo-Opt. Inst. Eng.. 1993. 10.1117/12.148698.</a:t>
            </a:r>
          </a:p>
        </p:txBody>
      </p:sp>
    </p:spTree>
    <p:extLst>
      <p:ext uri="{BB962C8B-B14F-4D97-AF65-F5344CB8AC3E}">
        <p14:creationId xmlns:p14="http://schemas.microsoft.com/office/powerpoint/2010/main" val="1464700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23B6E-3560-D389-B854-9826C437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789C4B-7936-79BB-9ED7-0DF570444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Why update the model?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F4A7E25-DBB3-489F-3A6A-094AA8FA5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930673"/>
              </p:ext>
            </p:extLst>
          </p:nvPr>
        </p:nvGraphicFramePr>
        <p:xfrm>
          <a:off x="612648" y="2212848"/>
          <a:ext cx="11019514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A2BF68-5CF3-878D-3A19-270F32C9EE40}"/>
              </a:ext>
            </a:extLst>
          </p:cNvPr>
          <p:cNvSpPr txBox="1"/>
          <p:nvPr/>
        </p:nvSpPr>
        <p:spPr>
          <a:xfrm>
            <a:off x="4425043" y="6391656"/>
            <a:ext cx="7766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000000"/>
                </a:solidFill>
                <a:effectLst/>
              </a:rPr>
              <a:t>Tin Kam Ho, "Random decision forests," Proceedings of 3rd International Conference on Document Analysis and Recognition, Montreal, QC, Canada, 1995, pp. 278-282 vol.1,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doi</a:t>
            </a:r>
            <a:r>
              <a:rPr lang="en-US" sz="1200" dirty="0">
                <a:solidFill>
                  <a:srgbClr val="000000"/>
                </a:solidFill>
                <a:effectLst/>
              </a:rPr>
              <a:t>: 10.1109/ICDAR.1995.598994.</a:t>
            </a:r>
          </a:p>
        </p:txBody>
      </p:sp>
    </p:spTree>
    <p:extLst>
      <p:ext uri="{BB962C8B-B14F-4D97-AF65-F5344CB8AC3E}">
        <p14:creationId xmlns:p14="http://schemas.microsoft.com/office/powerpoint/2010/main" val="345991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C6F7-5B49-2D15-7E20-F462AF82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B5040-1129-03FE-CA56-9D62FB5FD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483353" cy="4593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Diagnostic Breast Cancer Wisconsin Database</a:t>
            </a:r>
            <a:endParaRPr lang="en-US" dirty="0"/>
          </a:p>
          <a:p>
            <a:r>
              <a:rPr lang="en-US" dirty="0"/>
              <a:t>569 instances each representing 1 patient &amp; 1 breast mass</a:t>
            </a:r>
          </a:p>
          <a:p>
            <a:r>
              <a:rPr lang="en-US" dirty="0"/>
              <a:t>3 categories of 10 nuclear features to describe cell nuclei in the FNA image</a:t>
            </a:r>
          </a:p>
          <a:p>
            <a:r>
              <a:rPr lang="en-US" b="1" dirty="0"/>
              <a:t>Target: </a:t>
            </a:r>
            <a:r>
              <a:rPr lang="en-US" dirty="0"/>
              <a:t>Diagnosis</a:t>
            </a:r>
          </a:p>
          <a:p>
            <a:pPr lvl="1"/>
            <a:r>
              <a:rPr lang="en-US" dirty="0"/>
              <a:t>Benign, 63% (357/569)</a:t>
            </a:r>
          </a:p>
          <a:p>
            <a:pPr lvl="1"/>
            <a:r>
              <a:rPr lang="en-US" dirty="0"/>
              <a:t>Malignant, 37% (212/569)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9ABB1-F297-A893-A5EE-CE9C691681ED}"/>
              </a:ext>
            </a:extLst>
          </p:cNvPr>
          <p:cNvSpPr txBox="1"/>
          <p:nvPr/>
        </p:nvSpPr>
        <p:spPr>
          <a:xfrm>
            <a:off x="7134641" y="1680898"/>
            <a:ext cx="351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Nuclear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0628B-652F-2E62-8ADD-127F45713DB4}"/>
              </a:ext>
            </a:extLst>
          </p:cNvPr>
          <p:cNvSpPr txBox="1"/>
          <p:nvPr/>
        </p:nvSpPr>
        <p:spPr>
          <a:xfrm>
            <a:off x="6720548" y="2087055"/>
            <a:ext cx="2173421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Radius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09D3D-9581-F997-CDA3-4AFF55DB46F6}"/>
              </a:ext>
            </a:extLst>
          </p:cNvPr>
          <p:cNvSpPr txBox="1"/>
          <p:nvPr/>
        </p:nvSpPr>
        <p:spPr>
          <a:xfrm>
            <a:off x="6720548" y="2509588"/>
            <a:ext cx="2173421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Perimeter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9F7B9-69DF-3D16-1898-05E193B1131F}"/>
              </a:ext>
            </a:extLst>
          </p:cNvPr>
          <p:cNvSpPr txBox="1"/>
          <p:nvPr/>
        </p:nvSpPr>
        <p:spPr>
          <a:xfrm>
            <a:off x="6720548" y="2935391"/>
            <a:ext cx="2173421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B9B12-D733-4665-F0D4-E2CFACAC852C}"/>
              </a:ext>
            </a:extLst>
          </p:cNvPr>
          <p:cNvSpPr txBox="1"/>
          <p:nvPr/>
        </p:nvSpPr>
        <p:spPr>
          <a:xfrm>
            <a:off x="6730427" y="3361194"/>
            <a:ext cx="2173421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Compactness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4493D-E3C7-2C99-263D-0957573C6D0B}"/>
              </a:ext>
            </a:extLst>
          </p:cNvPr>
          <p:cNvSpPr txBox="1"/>
          <p:nvPr/>
        </p:nvSpPr>
        <p:spPr>
          <a:xfrm>
            <a:off x="6720548" y="3800907"/>
            <a:ext cx="2173421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Smoothness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88570-4845-C788-6D22-A7B22D26100E}"/>
              </a:ext>
            </a:extLst>
          </p:cNvPr>
          <p:cNvSpPr txBox="1"/>
          <p:nvPr/>
        </p:nvSpPr>
        <p:spPr>
          <a:xfrm>
            <a:off x="9082924" y="2087055"/>
            <a:ext cx="2173421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Concavity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EE356-2128-2A8E-31E5-B7901806804A}"/>
              </a:ext>
            </a:extLst>
          </p:cNvPr>
          <p:cNvSpPr txBox="1"/>
          <p:nvPr/>
        </p:nvSpPr>
        <p:spPr>
          <a:xfrm>
            <a:off x="9082924" y="2509588"/>
            <a:ext cx="2173421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Concave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E2D239-0B91-D0EC-844E-E8443E4F02F0}"/>
              </a:ext>
            </a:extLst>
          </p:cNvPr>
          <p:cNvSpPr txBox="1"/>
          <p:nvPr/>
        </p:nvSpPr>
        <p:spPr>
          <a:xfrm>
            <a:off x="9082924" y="2935391"/>
            <a:ext cx="2173421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Symmetry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72086F-B9B9-A08D-FAE7-B2038CF6152A}"/>
              </a:ext>
            </a:extLst>
          </p:cNvPr>
          <p:cNvSpPr txBox="1"/>
          <p:nvPr/>
        </p:nvSpPr>
        <p:spPr>
          <a:xfrm>
            <a:off x="9092804" y="3361194"/>
            <a:ext cx="2173422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Fractal dimension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50076-5EFB-35CA-B182-481C0772E06A}"/>
              </a:ext>
            </a:extLst>
          </p:cNvPr>
          <p:cNvSpPr txBox="1"/>
          <p:nvPr/>
        </p:nvSpPr>
        <p:spPr>
          <a:xfrm>
            <a:off x="9082924" y="3800907"/>
            <a:ext cx="2173421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Texture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C0E4E16-8F20-D30D-FCAF-257B43176DA0}"/>
              </a:ext>
            </a:extLst>
          </p:cNvPr>
          <p:cNvSpPr/>
          <p:nvPr/>
        </p:nvSpPr>
        <p:spPr>
          <a:xfrm rot="16200000">
            <a:off x="8791741" y="1969723"/>
            <a:ext cx="408623" cy="5057774"/>
          </a:xfrm>
          <a:prstGeom prst="leftBrace">
            <a:avLst>
              <a:gd name="adj1" fmla="val 8333"/>
              <a:gd name="adj2" fmla="val 49718"/>
            </a:avLst>
          </a:prstGeom>
          <a:ln w="127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D3EF4A-BF46-BE46-61A5-E09078CA876D}"/>
              </a:ext>
            </a:extLst>
          </p:cNvPr>
          <p:cNvSpPr txBox="1"/>
          <p:nvPr/>
        </p:nvSpPr>
        <p:spPr>
          <a:xfrm>
            <a:off x="7236724" y="4727484"/>
            <a:ext cx="3518656" cy="408623"/>
          </a:xfrm>
          <a:prstGeom prst="round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Mean, Worst, &amp; Standard Error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E7DBAA-3FC2-323F-E3A1-44A766BC0965}"/>
              </a:ext>
            </a:extLst>
          </p:cNvPr>
          <p:cNvSpPr txBox="1"/>
          <p:nvPr/>
        </p:nvSpPr>
        <p:spPr>
          <a:xfrm>
            <a:off x="5045528" y="6391656"/>
            <a:ext cx="7146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000000"/>
                </a:solidFill>
                <a:effectLst/>
              </a:rPr>
              <a:t>Wolberg, W., Mangasarian, O., Street, N., &amp; Street, W. (1993). Breast Cancer Wisconsin (Diagnostic) [Dataset]. UCI Machine Learning Repository. https://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doi.org</a:t>
            </a:r>
            <a:r>
              <a:rPr lang="en-US" sz="1200" dirty="0">
                <a:solidFill>
                  <a:srgbClr val="000000"/>
                </a:solidFill>
                <a:effectLst/>
              </a:rPr>
              <a:t>/10.24432/C5DW2B.</a:t>
            </a:r>
          </a:p>
        </p:txBody>
      </p:sp>
    </p:spTree>
    <p:extLst>
      <p:ext uri="{BB962C8B-B14F-4D97-AF65-F5344CB8AC3E}">
        <p14:creationId xmlns:p14="http://schemas.microsoft.com/office/powerpoint/2010/main" val="1549523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7FF4-9A8B-6227-03E7-27DC4CE5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34" y="964902"/>
            <a:ext cx="5139126" cy="1132258"/>
          </a:xfrm>
        </p:spPr>
        <p:txBody>
          <a:bodyPr/>
          <a:lstStyle/>
          <a:p>
            <a:r>
              <a:rPr lang="en-US" dirty="0"/>
              <a:t>EDA: Right skewed data with outliers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C02856-509D-2BCB-9E47-3AC1AB6A5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2812" y="964902"/>
            <a:ext cx="6642154" cy="4592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802CDE-9462-A1D9-B66E-FE37AF339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97" y="2805721"/>
            <a:ext cx="5029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04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7B4F-93F1-3E3D-31DC-A32B94F1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EDA: “Worst” = the largest measurement taken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379323-6F45-89F3-70D7-80091D0E3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7388" y="1222586"/>
            <a:ext cx="10548838" cy="52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40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90E78B-A426-C443-9F17-3E9C63AE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3553412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Relationships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F27F4B-B4A6-CE79-DD51-875044547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3553412" cy="4122420"/>
          </a:xfrm>
        </p:spPr>
        <p:txBody>
          <a:bodyPr>
            <a:normAutofit/>
          </a:bodyPr>
          <a:lstStyle/>
          <a:p>
            <a:r>
              <a:rPr lang="en-US" sz="1800" b="1" dirty="0"/>
              <a:t>Strong correlation </a:t>
            </a:r>
            <a:r>
              <a:rPr lang="en-US" sz="1800" dirty="0"/>
              <a:t>between size features*</a:t>
            </a:r>
          </a:p>
          <a:p>
            <a:r>
              <a:rPr lang="en-US" sz="1800" b="1" dirty="0"/>
              <a:t>Strong correlation </a:t>
            </a:r>
            <a:r>
              <a:rPr lang="en-US" sz="1800" dirty="0"/>
              <a:t>between concavity, </a:t>
            </a:r>
            <a:r>
              <a:rPr lang="en-US" sz="1800" dirty="0" err="1"/>
              <a:t>concave_points</a:t>
            </a:r>
            <a:r>
              <a:rPr lang="en-US" sz="1800" dirty="0"/>
              <a:t>, &amp; compactness</a:t>
            </a:r>
          </a:p>
          <a:p>
            <a:r>
              <a:rPr lang="en-US" sz="1800" b="1" dirty="0"/>
              <a:t>Moderate correlation </a:t>
            </a:r>
            <a:r>
              <a:rPr lang="en-US" sz="1800" dirty="0"/>
              <a:t>between smoothness, compactness, symmetry, &amp; fractal dimension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6208DC-FD1C-DFC7-26F8-3C084B07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654"/>
          <a:stretch/>
        </p:blipFill>
        <p:spPr>
          <a:xfrm>
            <a:off x="4330391" y="-1"/>
            <a:ext cx="7861609" cy="68579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AC9341-F8C5-D61C-190F-41C6712B4D1E}"/>
              </a:ext>
            </a:extLst>
          </p:cNvPr>
          <p:cNvSpPr txBox="1"/>
          <p:nvPr/>
        </p:nvSpPr>
        <p:spPr>
          <a:xfrm>
            <a:off x="4827695" y="234172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FF058-3089-2AB9-72EB-E731CA517A16}"/>
              </a:ext>
            </a:extLst>
          </p:cNvPr>
          <p:cNvSpPr txBox="1"/>
          <p:nvPr/>
        </p:nvSpPr>
        <p:spPr>
          <a:xfrm>
            <a:off x="4627234" y="1280336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EED29-3778-FDAC-58EC-5FEEB8CE1EF5}"/>
              </a:ext>
            </a:extLst>
          </p:cNvPr>
          <p:cNvSpPr txBox="1"/>
          <p:nvPr/>
        </p:nvSpPr>
        <p:spPr>
          <a:xfrm>
            <a:off x="4934659" y="1783689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358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8D3B17-7638-DFD3-18E4-8A6D6117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93A44C-261F-54C7-3E94-C29D5B66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534" y="603504"/>
            <a:ext cx="5916169" cy="1527048"/>
          </a:xfrm>
        </p:spPr>
        <p:txBody>
          <a:bodyPr anchor="b">
            <a:normAutofit/>
          </a:bodyPr>
          <a:lstStyle/>
          <a:p>
            <a:r>
              <a:rPr lang="en-US"/>
              <a:t>Relationships across the 3 categories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8F1C25C6-45F5-77F9-22A3-EF8945B89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4"/>
          <a:stretch>
            <a:fillRect/>
          </a:stretch>
        </p:blipFill>
        <p:spPr>
          <a:xfrm>
            <a:off x="20" y="10"/>
            <a:ext cx="4910308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8A4C-0888-517F-7AA8-CF3C83A4B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533" y="2214282"/>
            <a:ext cx="5916169" cy="4095078"/>
          </a:xfrm>
        </p:spPr>
        <p:txBody>
          <a:bodyPr>
            <a:normAutofit/>
          </a:bodyPr>
          <a:lstStyle/>
          <a:p>
            <a:r>
              <a:rPr lang="en-US" dirty="0"/>
              <a:t>I.e., how correlated are </a:t>
            </a:r>
            <a:r>
              <a:rPr lang="en-US" dirty="0" err="1"/>
              <a:t>perimeter_mean</a:t>
            </a:r>
            <a:r>
              <a:rPr lang="en-US" dirty="0"/>
              <a:t>, </a:t>
            </a:r>
            <a:r>
              <a:rPr lang="en-US" dirty="0" err="1"/>
              <a:t>perimeter_worst</a:t>
            </a:r>
            <a:r>
              <a:rPr lang="en-US" dirty="0"/>
              <a:t>, &amp; </a:t>
            </a:r>
            <a:r>
              <a:rPr lang="en-US" dirty="0" err="1"/>
              <a:t>perimeter_se</a:t>
            </a:r>
            <a:r>
              <a:rPr lang="en-US" dirty="0"/>
              <a:t>?</a:t>
            </a:r>
          </a:p>
          <a:p>
            <a:r>
              <a:rPr lang="en-US" b="1" dirty="0"/>
              <a:t>All features are correlated with their matching features in other categories</a:t>
            </a:r>
          </a:p>
        </p:txBody>
      </p:sp>
    </p:spTree>
    <p:extLst>
      <p:ext uri="{BB962C8B-B14F-4D97-AF65-F5344CB8AC3E}">
        <p14:creationId xmlns:p14="http://schemas.microsoft.com/office/powerpoint/2010/main" val="259359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EC1E-BF6F-7F69-EA8A-50FEA331B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Guiding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60D4E-35BD-4CEA-A0DA-3F7AE666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Goal: </a:t>
            </a:r>
            <a:r>
              <a:rPr lang="en-US" dirty="0"/>
              <a:t>select features to minimize bias in the model</a:t>
            </a:r>
          </a:p>
          <a:p>
            <a:pPr marL="0" indent="0">
              <a:buNone/>
            </a:pPr>
            <a:r>
              <a:rPr lang="en-US" b="1" dirty="0"/>
              <a:t>Criteria</a:t>
            </a:r>
          </a:p>
          <a:p>
            <a:r>
              <a:rPr lang="en-US" dirty="0"/>
              <a:t>Don’t include matching features from other categories</a:t>
            </a:r>
          </a:p>
          <a:p>
            <a:pPr lvl="1"/>
            <a:r>
              <a:rPr lang="en-US" dirty="0"/>
              <a:t>I.e., must choose ONE from </a:t>
            </a:r>
            <a:r>
              <a:rPr lang="en-US" dirty="0" err="1"/>
              <a:t>symmetry_mean</a:t>
            </a:r>
            <a:r>
              <a:rPr lang="en-US" dirty="0"/>
              <a:t>, </a:t>
            </a:r>
            <a:r>
              <a:rPr lang="en-US" dirty="0" err="1"/>
              <a:t>symmetry_worst</a:t>
            </a:r>
            <a:r>
              <a:rPr lang="en-US" dirty="0"/>
              <a:t>, &amp; </a:t>
            </a:r>
            <a:r>
              <a:rPr lang="en-US" dirty="0" err="1"/>
              <a:t>symmetry_se</a:t>
            </a:r>
            <a:endParaRPr lang="en-US" dirty="0"/>
          </a:p>
          <a:p>
            <a:r>
              <a:rPr lang="en-US" dirty="0"/>
              <a:t>Don’t include highly correlated variables</a:t>
            </a:r>
          </a:p>
          <a:p>
            <a:pPr lvl="1"/>
            <a:r>
              <a:rPr lang="en-US" dirty="0"/>
              <a:t>I.e., must choose ONE from radius, area, &amp; perimeter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2160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8D2F6-AF5C-A446-7270-B985E4938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7CD7B-AE9E-83E8-53D8-3D3D831FF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Attempt 1: </a:t>
            </a:r>
          </a:p>
          <a:p>
            <a:r>
              <a:rPr lang="en-US" dirty="0"/>
              <a:t>Loop through all possible combinations and test on a basic </a:t>
            </a:r>
            <a:r>
              <a:rPr lang="en-US" dirty="0" err="1"/>
              <a:t>RandomForestClassifier</a:t>
            </a:r>
            <a:r>
              <a:rPr lang="en-US" dirty="0"/>
              <a:t> </a:t>
            </a:r>
          </a:p>
          <a:p>
            <a:r>
              <a:rPr lang="en-US" dirty="0"/>
              <a:t>Find combo that yielded highest accuracy</a:t>
            </a:r>
          </a:p>
          <a:p>
            <a:r>
              <a:rPr lang="en-US" dirty="0"/>
              <a:t>Use radius as size feature.</a:t>
            </a:r>
            <a:endParaRPr lang="en-US" dirty="0">
              <a:solidFill>
                <a:srgbClr val="C00000"/>
              </a:solidFill>
            </a:endParaRPr>
          </a:p>
          <a:p>
            <a:pPr>
              <a:buClr>
                <a:srgbClr val="FF0000"/>
              </a:buClr>
              <a:buFont typeface="System Font Regular"/>
              <a:buChar char="❌"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Too computationally expensive</a:t>
            </a:r>
          </a:p>
          <a:p>
            <a:pPr marL="0" indent="0">
              <a:buNone/>
            </a:pPr>
            <a:r>
              <a:rPr lang="en-US" b="1" dirty="0"/>
              <a:t>Attempt 2: </a:t>
            </a:r>
          </a:p>
          <a:p>
            <a:r>
              <a:rPr lang="en-US" dirty="0"/>
              <a:t>Loop through set number of random combinations to limit computational load. </a:t>
            </a:r>
          </a:p>
          <a:p>
            <a:r>
              <a:rPr lang="en-US" dirty="0"/>
              <a:t>If accuracy scores are similar, no need to test them all.</a:t>
            </a:r>
          </a:p>
          <a:p>
            <a:pPr>
              <a:buClr>
                <a:srgbClr val="FF0000"/>
              </a:buClr>
              <a:buFont typeface="System Font Regular"/>
              <a:buChar char="❌"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Accuracy scores were different</a:t>
            </a:r>
          </a:p>
        </p:txBody>
      </p:sp>
    </p:spTree>
    <p:extLst>
      <p:ext uri="{BB962C8B-B14F-4D97-AF65-F5344CB8AC3E}">
        <p14:creationId xmlns:p14="http://schemas.microsoft.com/office/powerpoint/2010/main" val="3315537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5150-948D-7AFF-F2C8-432B1C30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0BAC-D32C-BDD9-5820-767DE063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Selection Methods,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2082D-2419-5B85-6F6D-6233E7D20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5483353" cy="45938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Attempt 3: </a:t>
            </a:r>
          </a:p>
          <a:p>
            <a:r>
              <a:rPr lang="en-US" dirty="0"/>
              <a:t>Revisit paper and see they used area instead of radius &amp; no standard error features</a:t>
            </a:r>
          </a:p>
          <a:p>
            <a:r>
              <a:rPr lang="en-US" dirty="0"/>
              <a:t>Avoid all standard error features and swap radius with area</a:t>
            </a:r>
          </a:p>
          <a:p>
            <a:pPr>
              <a:buFont typeface="Wingdings" pitchFamily="2" charset="2"/>
              <a:buChar char="ü"/>
            </a:pPr>
            <a:r>
              <a:rPr lang="en-US" b="1" dirty="0">
                <a:solidFill>
                  <a:schemeClr val="accent6"/>
                </a:solidFill>
              </a:rPr>
              <a:t> Reasonable computation time &amp; high accuracy (99.12%)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47AAD2-ED64-5F2B-9289-0752C65C9DF3}"/>
              </a:ext>
            </a:extLst>
          </p:cNvPr>
          <p:cNvSpPr txBox="1"/>
          <p:nvPr/>
        </p:nvSpPr>
        <p:spPr>
          <a:xfrm>
            <a:off x="6709798" y="1711988"/>
            <a:ext cx="436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Features Moving to Modeling Phase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BDF71-3A23-1DA5-F974-2E7D8ACCD54A}"/>
              </a:ext>
            </a:extLst>
          </p:cNvPr>
          <p:cNvSpPr txBox="1"/>
          <p:nvPr/>
        </p:nvSpPr>
        <p:spPr>
          <a:xfrm>
            <a:off x="7390019" y="2144111"/>
            <a:ext cx="2949034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area_worst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87329-EF6B-CDDA-FE40-5EAA016E19F4}"/>
              </a:ext>
            </a:extLst>
          </p:cNvPr>
          <p:cNvSpPr txBox="1"/>
          <p:nvPr/>
        </p:nvSpPr>
        <p:spPr>
          <a:xfrm>
            <a:off x="7390019" y="2566644"/>
            <a:ext cx="2949034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compactness_mean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B081D-2973-14FD-B981-BE0F98CA656E}"/>
              </a:ext>
            </a:extLst>
          </p:cNvPr>
          <p:cNvSpPr txBox="1"/>
          <p:nvPr/>
        </p:nvSpPr>
        <p:spPr>
          <a:xfrm>
            <a:off x="7390019" y="2992447"/>
            <a:ext cx="2949034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concavity_mean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7AE40F-8735-EAD3-0975-D904C9B188C0}"/>
              </a:ext>
            </a:extLst>
          </p:cNvPr>
          <p:cNvSpPr txBox="1"/>
          <p:nvPr/>
        </p:nvSpPr>
        <p:spPr>
          <a:xfrm>
            <a:off x="7399898" y="3418250"/>
            <a:ext cx="2968744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fractal_dimension_mean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8EE32-A4B0-5EBB-4F7E-A4CB596950E2}"/>
              </a:ext>
            </a:extLst>
          </p:cNvPr>
          <p:cNvSpPr txBox="1"/>
          <p:nvPr/>
        </p:nvSpPr>
        <p:spPr>
          <a:xfrm>
            <a:off x="7390018" y="3857963"/>
            <a:ext cx="2978624" cy="40862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smoothness_worst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E70C5A-5041-A034-077B-5810324C4762}"/>
              </a:ext>
            </a:extLst>
          </p:cNvPr>
          <p:cNvSpPr txBox="1"/>
          <p:nvPr/>
        </p:nvSpPr>
        <p:spPr>
          <a:xfrm>
            <a:off x="7399898" y="4297676"/>
            <a:ext cx="2968744" cy="40862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symmetry_mean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33361-E2C8-30BC-4111-539CA5D57B6D}"/>
              </a:ext>
            </a:extLst>
          </p:cNvPr>
          <p:cNvSpPr txBox="1"/>
          <p:nvPr/>
        </p:nvSpPr>
        <p:spPr>
          <a:xfrm>
            <a:off x="7370309" y="4737389"/>
            <a:ext cx="2968744" cy="40862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/>
              <a:t>texture_mean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04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D93C7-D994-3738-D69A-50F3C2CE0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Modeling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6798E-A183-6C90-37FB-24B1D9171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653579" cy="459382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Recall that diagnosis is an imbalanced target with 63% benign and 37% malignant</a:t>
            </a:r>
          </a:p>
          <a:p>
            <a:r>
              <a:rPr lang="en-US" dirty="0"/>
              <a:t>Use </a:t>
            </a:r>
            <a:r>
              <a:rPr lang="en-US" dirty="0" err="1"/>
              <a:t>StratifiedKFold</a:t>
            </a:r>
            <a:r>
              <a:rPr lang="en-US" dirty="0"/>
              <a:t> cross-validation with 5 splits</a:t>
            </a:r>
          </a:p>
          <a:p>
            <a:r>
              <a:rPr lang="en-US" dirty="0"/>
              <a:t>Stratify y in </a:t>
            </a:r>
            <a:r>
              <a:rPr lang="en-US" dirty="0" err="1"/>
              <a:t>train_test_split</a:t>
            </a:r>
            <a:r>
              <a:rPr lang="en-US" dirty="0"/>
              <a:t>(</a:t>
            </a:r>
            <a:r>
              <a:rPr lang="en-US" dirty="0" err="1"/>
              <a:t>test_size</a:t>
            </a:r>
            <a:r>
              <a:rPr lang="en-US" dirty="0"/>
              <a:t>=0.2)</a:t>
            </a:r>
          </a:p>
        </p:txBody>
      </p:sp>
    </p:spTree>
    <p:extLst>
      <p:ext uri="{BB962C8B-B14F-4D97-AF65-F5344CB8AC3E}">
        <p14:creationId xmlns:p14="http://schemas.microsoft.com/office/powerpoint/2010/main" val="2958372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2D0E-F613-215D-9FE1-E4B25CC2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GridSearch</a:t>
            </a:r>
            <a:r>
              <a:rPr lang="en-US" dirty="0"/>
              <a:t> to find the best hyperparameters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BEE568-A264-1867-D88B-8145B7A6BB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436" y="3629660"/>
            <a:ext cx="9982200" cy="267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954CCC-42AE-D4F1-534B-28862D68D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986" y="1231900"/>
            <a:ext cx="39751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3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AC188-8FA9-9BCC-ED72-14CA04784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Initial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50B0D-00DF-30ED-2A44-C0FFD6E9C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r>
              <a:rPr lang="en-US" sz="1800" dirty="0"/>
              <a:t>This is a strong start, and we could probably stop here</a:t>
            </a:r>
          </a:p>
          <a:p>
            <a:r>
              <a:rPr lang="en-US" sz="1800" dirty="0"/>
              <a:t>But can we improve the sensitivity to prevent false negatives?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42BBC8-4603-4A02-3483-FEF15D2C2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1" y="808247"/>
            <a:ext cx="6411940" cy="524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9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9C475-FD0A-DF08-0887-AE83C48F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6E0E-C001-65C5-489E-52F11C546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Maximizing Recall /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056C4-B907-3FB6-A17E-550A09335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Attempt 1: </a:t>
            </a:r>
          </a:p>
          <a:p>
            <a:r>
              <a:rPr lang="en-US" dirty="0"/>
              <a:t>Emphasize recall in </a:t>
            </a:r>
            <a:r>
              <a:rPr lang="en-US" dirty="0" err="1"/>
              <a:t>GridSearchCV</a:t>
            </a:r>
            <a:r>
              <a:rPr lang="en-US" dirty="0"/>
              <a:t> instead of the F1 score</a:t>
            </a:r>
          </a:p>
          <a:p>
            <a:r>
              <a:rPr lang="en-US" dirty="0"/>
              <a:t>Assign </a:t>
            </a:r>
            <a:r>
              <a:rPr lang="en-US" dirty="0" err="1"/>
              <a:t>class_weight</a:t>
            </a:r>
            <a:r>
              <a:rPr lang="en-US" dirty="0"/>
              <a:t> = ‘balanced’ in the </a:t>
            </a:r>
            <a:r>
              <a:rPr lang="en-US" dirty="0" err="1"/>
              <a:t>RandomForestClassifier</a:t>
            </a:r>
            <a:endParaRPr lang="en-US" dirty="0">
              <a:solidFill>
                <a:srgbClr val="C00000"/>
              </a:solidFill>
            </a:endParaRPr>
          </a:p>
          <a:p>
            <a:pPr>
              <a:buClr>
                <a:srgbClr val="FF0000"/>
              </a:buClr>
              <a:buFont typeface="System Font Regular"/>
              <a:buChar char="❌"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Failed to reduce false negatives</a:t>
            </a:r>
          </a:p>
        </p:txBody>
      </p:sp>
    </p:spTree>
    <p:extLst>
      <p:ext uri="{BB962C8B-B14F-4D97-AF65-F5344CB8AC3E}">
        <p14:creationId xmlns:p14="http://schemas.microsoft.com/office/powerpoint/2010/main" val="2581955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6D945-C0FF-DFE3-4A52-965F5BB5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5C79EA1-86E4-0267-F799-87671476E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127FA-7B95-B8E8-1C36-7D890F1CB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57" y="548640"/>
            <a:ext cx="4014216" cy="2880360"/>
          </a:xfrm>
        </p:spPr>
        <p:txBody>
          <a:bodyPr anchor="t">
            <a:normAutofit/>
          </a:bodyPr>
          <a:lstStyle/>
          <a:p>
            <a:r>
              <a:rPr lang="en-US" dirty="0"/>
              <a:t>Maximizing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9652-2859-F47D-7CF2-756E04DEBA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624" y="583750"/>
            <a:ext cx="7978819" cy="2845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Attempt 2: </a:t>
            </a:r>
            <a:r>
              <a:rPr lang="en-US" dirty="0"/>
              <a:t>Manually reduce probability threshold from 0.5 to 0.3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 Lowered false negatives without increasing false positives</a:t>
            </a: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Char char="ü"/>
              <a:tabLst/>
              <a:defRPr/>
            </a:pPr>
            <a:r>
              <a:rPr lang="en-US" sz="1800" b="1" dirty="0">
                <a:solidFill>
                  <a:schemeClr val="accent6"/>
                </a:solidFill>
                <a:latin typeface="Neue Haas Grotesk Text Pro"/>
              </a:rPr>
              <a:t>Better overall accuracy, sensitivity, and specificity than original MSM-Tree model</a:t>
            </a:r>
          </a:p>
          <a:p>
            <a:pPr marR="0" lvl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System Font Regular"/>
              <a:buChar char="*"/>
              <a:tabLst/>
              <a:defRPr/>
            </a:pP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Neue Haas Grotesk Text Pro"/>
              </a:rPr>
              <a:t>Note: deep learning methods may be more appropriate in practice, and we’ll learn about this in the next unit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D38C90-59BE-AE30-915E-E872F91A39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5" b="-1"/>
          <a:stretch>
            <a:fillRect/>
          </a:stretch>
        </p:blipFill>
        <p:spPr>
          <a:xfrm>
            <a:off x="4065983" y="3842488"/>
            <a:ext cx="4052225" cy="3015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5D4654-7E3F-6F13-9316-0FA832D2F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596" y="3842488"/>
            <a:ext cx="3543300" cy="295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35DEB9-1CD5-19BC-8834-3CF331CE8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95" y="3842488"/>
            <a:ext cx="3619500" cy="295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0971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D3F7-BBEE-5DA5-1FB4-FA7BCEDC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2E65B-C0F6-EFCF-BCED-93B184E05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 test split with 80/20 ratio and stratified target variable.</a:t>
            </a:r>
          </a:p>
          <a:p>
            <a:r>
              <a:rPr lang="en-US" dirty="0"/>
              <a:t>Random forest classifier with </a:t>
            </a:r>
            <a:r>
              <a:rPr lang="en-US" dirty="0" err="1"/>
              <a:t>n_estimators</a:t>
            </a:r>
            <a:r>
              <a:rPr lang="en-US" dirty="0"/>
              <a:t>=100, </a:t>
            </a:r>
            <a:r>
              <a:rPr lang="en-US" dirty="0" err="1"/>
              <a:t>max_depth</a:t>
            </a:r>
            <a:r>
              <a:rPr lang="en-US" dirty="0"/>
              <a:t>=None, </a:t>
            </a:r>
            <a:r>
              <a:rPr lang="en-US" dirty="0" err="1"/>
              <a:t>min_samples_split</a:t>
            </a:r>
            <a:r>
              <a:rPr lang="en-US" dirty="0"/>
              <a:t>=2, </a:t>
            </a:r>
            <a:r>
              <a:rPr lang="en-US" dirty="0" err="1"/>
              <a:t>min_samples_leaf</a:t>
            </a:r>
            <a:r>
              <a:rPr lang="en-US" dirty="0"/>
              <a:t>=1, </a:t>
            </a:r>
            <a:r>
              <a:rPr lang="en-US" dirty="0" err="1"/>
              <a:t>class_weight</a:t>
            </a:r>
            <a:r>
              <a:rPr lang="en-US" dirty="0"/>
              <a:t>=‘balanced'.</a:t>
            </a:r>
          </a:p>
          <a:p>
            <a:r>
              <a:rPr lang="en-US" dirty="0"/>
              <a:t>Threshold &gt; 0.3</a:t>
            </a:r>
          </a:p>
          <a:p>
            <a:r>
              <a:rPr lang="en-US" dirty="0"/>
              <a:t>For reproducibility, </a:t>
            </a:r>
            <a:r>
              <a:rPr lang="en-US" dirty="0" err="1"/>
              <a:t>random_state</a:t>
            </a:r>
            <a:r>
              <a:rPr lang="en-US" dirty="0"/>
              <a:t>=42 was used throughout this report.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755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D43E-AFA0-C642-353A-50771207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46D40-94A2-923F-9FDA-D414C284D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Street, Nick &amp; Wolberg, William &amp; Mangasarian, O. (1999). Nuclear Feature Extraction For Breast Tumor Diagnosis. Proc. Soc. Photo-Opt. Inst. Eng.. 1993. 10.1117/12.148698.</a:t>
            </a:r>
          </a:p>
          <a:p>
            <a:pPr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Tin Kam Ho, "Random decision forests," Proceedings of 3rd International Conference on Document Analysis and Recognition, Montreal, QC, Canada, 1995, pp. 278-282 vol.1, </a:t>
            </a:r>
            <a:r>
              <a:rPr lang="en-US" dirty="0" err="1">
                <a:solidFill>
                  <a:srgbClr val="000000"/>
                </a:solidFill>
                <a:effectLst/>
              </a:rPr>
              <a:t>doi</a:t>
            </a:r>
            <a:r>
              <a:rPr lang="en-US" dirty="0">
                <a:solidFill>
                  <a:srgbClr val="000000"/>
                </a:solidFill>
                <a:effectLst/>
              </a:rPr>
              <a:t>: 10.1109/ICDAR.1995.598994.</a:t>
            </a:r>
          </a:p>
          <a:p>
            <a:pPr>
              <a:spcAft>
                <a:spcPts val="300"/>
              </a:spcAft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effectLst/>
              </a:rPr>
              <a:t>Wolberg, W., Mangasarian, O., Street, N., &amp; Street, W. (1993). Breast Cancer Wisconsin (Diagnostic) [Dataset]. UCI Machine Learning Repository. </a:t>
            </a:r>
            <a:r>
              <a:rPr lang="en-US" dirty="0">
                <a:solidFill>
                  <a:srgbClr val="000000"/>
                </a:solidFill>
                <a:effectLst/>
                <a:hlinkClick r:id="rId2"/>
              </a:rPr>
              <a:t>https://doi.org/10.24432/C5DW2B</a:t>
            </a:r>
            <a:r>
              <a:rPr lang="en-US" dirty="0">
                <a:solidFill>
                  <a:srgbClr val="000000"/>
                </a:solidFill>
                <a:effectLst/>
              </a:rPr>
              <a:t>.</a:t>
            </a:r>
          </a:p>
          <a:p>
            <a:pPr>
              <a:spcAft>
                <a:spcPts val="300"/>
              </a:spcAft>
              <a:buFont typeface="+mj-lt"/>
              <a:buAutoNum type="arabicPeriod"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b="1" i="1" dirty="0">
                <a:solidFill>
                  <a:srgbClr val="000000"/>
                </a:solidFill>
              </a:rPr>
              <a:t>Special thanks to Springboard and especially my advisor, Aditya Bhattacharya, for his guidance throughout this project! </a:t>
            </a:r>
            <a:endParaRPr lang="en-US" b="1" i="1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5122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953</Words>
  <Application>Microsoft Macintosh PowerPoint</Application>
  <PresentationFormat>Widescreen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Neue Haas Grotesk Text Pro</vt:lpstr>
      <vt:lpstr>System Font Regular</vt:lpstr>
      <vt:lpstr>Wingdings</vt:lpstr>
      <vt:lpstr>VanillaVTI</vt:lpstr>
      <vt:lpstr>Updated Random Forest Model for Breast Cancer Diagnosis</vt:lpstr>
      <vt:lpstr>Background</vt:lpstr>
      <vt:lpstr>Why update the model?</vt:lpstr>
      <vt:lpstr>Dataset Profile</vt:lpstr>
      <vt:lpstr>EDA: Right skewed data with outliers</vt:lpstr>
      <vt:lpstr>EDA: “Worst” = the largest measurement taken</vt:lpstr>
      <vt:lpstr>Relationships</vt:lpstr>
      <vt:lpstr>Relationships across the 3 categories</vt:lpstr>
      <vt:lpstr>Feature Selection Guiding Principles</vt:lpstr>
      <vt:lpstr>Feature Selection Methods </vt:lpstr>
      <vt:lpstr>Feature Selection Methods, cont.</vt:lpstr>
      <vt:lpstr>Random Forest Modeling Setup</vt:lpstr>
      <vt:lpstr>GridSearch to find the best hyperparameters</vt:lpstr>
      <vt:lpstr>Initial Results</vt:lpstr>
      <vt:lpstr>Maximizing Recall / Sensitivity</vt:lpstr>
      <vt:lpstr>Maximizing Recall</vt:lpstr>
      <vt:lpstr>Final Model Summary</vt:lpstr>
      <vt:lpstr>References &amp; 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Georgia Jenkins</dc:creator>
  <cp:lastModifiedBy>Georgia Jenkins</cp:lastModifiedBy>
  <cp:revision>19</cp:revision>
  <dcterms:created xsi:type="dcterms:W3CDTF">2025-07-11T17:30:52Z</dcterms:created>
  <dcterms:modified xsi:type="dcterms:W3CDTF">2025-07-11T19:43:41Z</dcterms:modified>
</cp:coreProperties>
</file>